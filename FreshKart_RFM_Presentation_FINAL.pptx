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the complete FreshKart RFM Customer Segmentation project — from raw data cleaning to a Power BI dashboard, statistical A/B testing, and business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FreshKart had 5,200 customers but treated them all identically. This led to very low response rates and wasted marketing budget. The solution was RFM segmentation to personalise campaigns.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followed 6 structured phases over 14 days — from Excel cleaning through SQL analysis, RFM scoring, statistical validation, Power BI dashboard, and finally business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covers 2 years of FreshKart transactions. ₹2.99 Crore total revenue from 99,477 transactions. Chennai dominates with 55.7% of revenue. Staples lead category sales at 39.2%.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RFM scoring divides all 5,187 customers into 8 segments. Champions — 1,113 customers — generate 51.6% of all revenue. Lost customers are 23.8% of the base but only 4.8% of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4 statistical tests confirm the segmentation is valid. ANOVA proves segments are genuinely different. Chi-Square shows city doesn't matter. A/B test proves targeted campaigns work 140%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A/B test is the most important business finding. Targeted campaign got 120 responses vs 50 from generic. 19.23% vs 8.01% — 140% improvement proven at 99.9999% confidence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Power BI dashboard has 3 pages with 20 DAX measures. All pages have slicers for City and RFM Segment so stakeholders can filter and explore data interactively.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prioritised recommendations. Champions must be protected — they generate over half of all revenue. Cannot Lose Them need urgent win-back. At-Risk should get the proven targeted coupon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conclude: Champions drive the business, targeted campaigns work, segmentation is statistically proven, city doesn't matter, October is peak season, and cleaning up the Lost segment will save marketing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91840"/>
            <a:ext cx="1828800" cy="1828800"/>
          </a:xfrm>
          <a:prstGeom prst="ellipse">
            <a:avLst/>
          </a:prstGeom>
          <a:solidFill>
            <a:srgbClr val="1A6EB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GUVI BA &amp; AI CERTIFICATION  | 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FreshKart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2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Customer Segmentation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grocery data into targeted marketing that works 140% better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256032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3218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Kalirathna Devi Valaguru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3538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 |  MySQL  |  Python  |  Power BI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58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3858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FreshKart Grocery Store — 99,477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did FreshKart need customer segmentation?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DEDEC"/>
          </a:solidFill>
          <a:ln w="19050">
            <a:solidFill>
              <a:srgbClr val="7C2D1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84048" y="171907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message to everyone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5,200 customers received identical generic SMS regardless of purchase history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FEF9E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55848" y="171907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response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campaigns wasted ₹8 lakhs every quarter with almost no return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EBF5FB"/>
          </a:solidFill>
          <a:ln w="19050">
            <a:solidFill>
              <a:srgbClr val="0D3B7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27648" y="171907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customer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had no idea who their best customers were or who was about to leave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0D3B7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Solution: RFM Customer Segmentation — Score every customer on Recency, Frequency and Monetary value → Group into 8 segments → Target each group with the right offer → Measure results with A/B testing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Approach — 6 Phases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BF5FB"/>
          </a:solidFill>
          <a:ln w="19050">
            <a:solidFill>
              <a:srgbClr val="1A6EB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4048" y="1069848"/>
            <a:ext cx="475488" cy="475488"/>
          </a:xfrm>
          <a:prstGeom prst="ellipse">
            <a:avLst/>
          </a:prstGeom>
          <a:solidFill>
            <a:srgbClr val="1A6EB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88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Cleaning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99,477 transactions cleaned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379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data quality issues fixed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671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Pivot tables &amp; charts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BF5FB"/>
          </a:solidFill>
          <a:ln w="19050">
            <a:solidFill>
              <a:srgbClr val="0F6B3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69848"/>
            <a:ext cx="475488" cy="475488"/>
          </a:xfrm>
          <a:prstGeom prst="ellipse">
            <a:avLst/>
          </a:prstGeom>
          <a:solidFill>
            <a:srgbClr val="0F6B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13632" y="1088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508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MySQL database created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64992" y="18379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21 business queries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64992" y="21671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JOINs, CTEs, Window Functions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9601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BF5FB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91072" y="1069848"/>
            <a:ext cx="475488" cy="47548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1072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67144" y="1088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 Scoring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18504" y="15087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5,187 customers scored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18504" y="18379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 segments assigned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18504" y="21671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CSV exported for 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BF5F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294436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&amp; A/B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383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ANOVA test: p&lt;0.00001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7124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Chi-Square: City independent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40416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A/B Test: +140% lift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27832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BF5FB"/>
          </a:solidFill>
          <a:ln w="19050">
            <a:solidFill>
              <a:srgbClr val="7C2D1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2944368"/>
            <a:ext cx="475488" cy="475488"/>
          </a:xfrm>
          <a:prstGeom prst="ellipse">
            <a:avLst/>
          </a:prstGeom>
          <a:solidFill>
            <a:srgbClr val="7C2D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13632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64992" y="3383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3-page dashboard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4992" y="37124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 DAX measures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64992" y="40416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slicers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283464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EBF5FB"/>
          </a:solidFill>
          <a:ln w="19050">
            <a:solidFill>
              <a:srgbClr val="00C2CB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91072" y="2944368"/>
            <a:ext cx="475488" cy="47548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67144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18504" y="3383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recommendations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18504" y="37124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Targeting matrix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18504" y="40416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Actionable insights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Key Performance Indicators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FreshKart Grocery Store  |  Chennai | Coimbatore | Madurai  |  Jan 2024 – Dec 2025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" y="1005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BF5FB"/>
          </a:solidFill>
          <a:ln w="19050">
            <a:solidFill>
              <a:srgbClr val="1A6EB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E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₹2.99 Cr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1623974"/>
            <a:ext cx="20116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1168" y="193304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channels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95728" y="1005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D5F5E3"/>
          </a:solidFill>
          <a:ln w="19050">
            <a:solidFill>
              <a:srgbClr val="0F6B3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95728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99,477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95728" y="1623974"/>
            <a:ext cx="20116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95728" y="193304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records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90288" y="1005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BF5FB"/>
          </a:solidFill>
          <a:ln w="19050">
            <a:solidFill>
              <a:srgbClr val="0D3B7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0288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5,187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90288" y="1623974"/>
            <a:ext cx="20116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90288" y="193304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purchases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84848" y="1005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4ECF7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84848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2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84848" y="1623974"/>
            <a:ext cx="2011680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84848" y="193304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2024–Dec 2025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2377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City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2852928"/>
            <a:ext cx="1426098" cy="274320"/>
          </a:xfrm>
          <a:prstGeom prst="roundRect">
            <a:avLst>
              <a:gd name="adj" fmla="val 13333"/>
            </a:avLst>
          </a:prstGeom>
          <a:solidFill>
            <a:srgbClr val="1F4E79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70850" y="27614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₹1.67 Cr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276148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55.7%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3346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Coimbatore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3438144"/>
            <a:ext cx="632399" cy="274320"/>
          </a:xfrm>
          <a:prstGeom prst="roundRect">
            <a:avLst>
              <a:gd name="adj" fmla="val 13333"/>
            </a:avLst>
          </a:prstGeom>
          <a:solidFill>
            <a:srgbClr val="0F6B3D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77151" y="334670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₹74 Lakh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23360" y="33467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931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Madurai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71600" y="4023360"/>
            <a:ext cx="499262" cy="274320"/>
          </a:xfrm>
          <a:prstGeom prst="roundRect">
            <a:avLst>
              <a:gd name="adj" fmla="val 13333"/>
            </a:avLst>
          </a:prstGeom>
          <a:solidFill>
            <a:srgbClr val="D97706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44014" y="39319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₹58 Lakh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23360" y="39319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2377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Category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2761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2816352"/>
            <a:ext cx="931956" cy="201168"/>
          </a:xfrm>
          <a:prstGeom prst="rect">
            <a:avLst/>
          </a:prstGeom>
          <a:solidFill>
            <a:srgbClr val="1F4E79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27614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163824"/>
            <a:ext cx="351861" cy="201168"/>
          </a:xfrm>
          <a:prstGeom prst="rect">
            <a:avLst/>
          </a:prstGeom>
          <a:solidFill>
            <a:srgbClr val="0F6B3D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3108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Beverages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511296"/>
            <a:ext cx="292425" cy="201168"/>
          </a:xfrm>
          <a:prstGeom prst="rect">
            <a:avLst/>
          </a:prstGeom>
          <a:solidFill>
            <a:srgbClr val="D97706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3456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38039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3858768"/>
            <a:ext cx="278160" cy="201168"/>
          </a:xfrm>
          <a:prstGeom prst="rect">
            <a:avLst/>
          </a:prstGeom>
          <a:solidFill>
            <a:srgbClr val="6B21A8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38039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54880" y="4151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Produce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20" y="4206240"/>
            <a:ext cx="232989" cy="201168"/>
          </a:xfrm>
          <a:prstGeom prst="rect">
            <a:avLst/>
          </a:prstGeom>
          <a:solidFill>
            <a:srgbClr val="7C2D12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0" y="41513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44988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0" y="4553712"/>
            <a:ext cx="290048" cy="201168"/>
          </a:xfrm>
          <a:prstGeom prst="rect">
            <a:avLst/>
          </a:prstGeom>
          <a:solidFill>
            <a:srgbClr val="64748B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44988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Customer Segmentation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548640" cy="548640"/>
          </a:xfrm>
          <a:prstGeom prst="ellipse">
            <a:avLst/>
          </a:prstGeom>
          <a:solidFill>
            <a:srgbClr val="1A6EB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822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115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since last purchase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1353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days = Score 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548640" cy="548640"/>
          </a:xfrm>
          <a:prstGeom prst="ellipse">
            <a:avLst/>
          </a:prstGeom>
          <a:solidFill>
            <a:srgbClr val="0F6B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822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1115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orders placed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0" y="1353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orders = Score 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804672"/>
            <a:ext cx="548640" cy="54864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04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822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115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amount spent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13533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spend = Score 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1691640"/>
            <a:ext cx="2103120" cy="292608"/>
          </a:xfrm>
          <a:prstGeom prst="rect">
            <a:avLst/>
          </a:prstGeom>
          <a:solidFill>
            <a:srgbClr val="0D3B7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169164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95728" y="1691640"/>
            <a:ext cx="1005840" cy="292608"/>
          </a:xfrm>
          <a:prstGeom prst="rect">
            <a:avLst/>
          </a:prstGeom>
          <a:solidFill>
            <a:srgbClr val="0D3B7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32304" y="169164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38144" y="1691640"/>
            <a:ext cx="1005840" cy="292608"/>
          </a:xfrm>
          <a:prstGeom prst="rect">
            <a:avLst/>
          </a:prstGeom>
          <a:solidFill>
            <a:srgbClr val="0D3B7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9164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0560" y="1691640"/>
            <a:ext cx="1143000" cy="292608"/>
          </a:xfrm>
          <a:prstGeom prst="rect">
            <a:avLst/>
          </a:prstGeom>
          <a:solidFill>
            <a:srgbClr val="0D3B7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1691640"/>
            <a:ext cx="1069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Revenue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50992" y="1691640"/>
            <a:ext cx="1005840" cy="292608"/>
          </a:xfrm>
          <a:prstGeom prst="rect">
            <a:avLst/>
          </a:prstGeom>
          <a:solidFill>
            <a:srgbClr val="0D3B7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7568" y="1691640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Share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2011680"/>
            <a:ext cx="210312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20299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Champions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95728" y="2011680"/>
            <a:ext cx="100584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32304" y="20299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38144" y="2011680"/>
            <a:ext cx="100584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0299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80560" y="2011680"/>
            <a:ext cx="114300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7136" y="202996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₹13,860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50992" y="2011680"/>
            <a:ext cx="100584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202996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51.6%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2359152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23774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💛 Loyal Customers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95728" y="2359152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32304" y="23774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1,079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38144" y="2359152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23774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480560" y="2359152"/>
            <a:ext cx="1143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17136" y="237744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₹6,476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50992" y="2359152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23774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2706624"/>
            <a:ext cx="210312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272491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Cannot Lose Them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395728" y="2706624"/>
            <a:ext cx="10058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32304" y="272491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438144" y="2706624"/>
            <a:ext cx="10058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0" y="272491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480560" y="2706624"/>
            <a:ext cx="114300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17136" y="272491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₹7,483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50992" y="2706624"/>
            <a:ext cx="10058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87568" y="272491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56032" y="3054096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2608" y="30723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At Risk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395728" y="3054096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32304" y="30723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438144" y="3054096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4720" y="30723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480560" y="3054096"/>
            <a:ext cx="1143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17136" y="3072384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₹4,253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650992" y="3054096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87568" y="307238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56032" y="3401568"/>
            <a:ext cx="2103120" cy="320040"/>
          </a:xfrm>
          <a:prstGeom prst="rect">
            <a:avLst/>
          </a:prstGeom>
          <a:solidFill>
            <a:srgbClr val="F4EC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" y="3419856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💤 Hibernating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395728" y="3401568"/>
            <a:ext cx="1005840" cy="320040"/>
          </a:xfrm>
          <a:prstGeom prst="rect">
            <a:avLst/>
          </a:prstGeom>
          <a:solidFill>
            <a:srgbClr val="F4EC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32304" y="34198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735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438144" y="3401568"/>
            <a:ext cx="1005840" cy="320040"/>
          </a:xfrm>
          <a:prstGeom prst="rect">
            <a:avLst/>
          </a:prstGeom>
          <a:solidFill>
            <a:srgbClr val="F4EC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474720" y="34198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480560" y="3401568"/>
            <a:ext cx="1143000" cy="320040"/>
          </a:xfrm>
          <a:prstGeom prst="rect">
            <a:avLst/>
          </a:prstGeom>
          <a:solidFill>
            <a:srgbClr val="F4EC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17136" y="3419856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₹2,246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650992" y="3401568"/>
            <a:ext cx="1005840" cy="320040"/>
          </a:xfrm>
          <a:prstGeom prst="rect">
            <a:avLst/>
          </a:prstGeom>
          <a:solidFill>
            <a:srgbClr val="F4EC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87568" y="341985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56032" y="3749040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2608" y="37673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New Customers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395728" y="374904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432304" y="376732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438144" y="374904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0" y="376732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480560" y="3749040"/>
            <a:ext cx="1143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17136" y="3767328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₹2,070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650992" y="374904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87568" y="376732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56032" y="4096512"/>
            <a:ext cx="210312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2608" y="41148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😴 Lost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395728" y="4096512"/>
            <a:ext cx="100584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432304" y="41148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1,235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438144" y="4096512"/>
            <a:ext cx="100584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474720" y="41148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23.8%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480560" y="4096512"/>
            <a:ext cx="114300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517136" y="411480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₹1,158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650992" y="4096512"/>
            <a:ext cx="100584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687568" y="411480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56032" y="4443984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2608" y="446227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Potential Loyalists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2395728" y="4443984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432304" y="4462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3438144" y="4443984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474720" y="4462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4480560" y="4443984"/>
            <a:ext cx="1143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17136" y="446227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₹5,762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650992" y="4443984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687568" y="44622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784848" y="1691640"/>
            <a:ext cx="2029968" cy="3136392"/>
          </a:xfrm>
          <a:prstGeom prst="roundRect">
            <a:avLst>
              <a:gd name="adj" fmla="val 4505"/>
            </a:avLst>
          </a:prstGeom>
          <a:solidFill>
            <a:srgbClr val="EBF5FB"/>
          </a:solidFill>
          <a:ln w="19050">
            <a:solidFill>
              <a:srgbClr val="1A6EB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6830568" y="180136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6830568" y="2350008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6E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51.6%</a:t>
            </a:r>
            <a:endParaRPr lang="en-US" sz="3800" dirty="0"/>
          </a:p>
        </p:txBody>
      </p:sp>
      <p:sp>
        <p:nvSpPr>
          <p:cNvPr id="111" name="Text 109"/>
          <p:cNvSpPr/>
          <p:nvPr/>
        </p:nvSpPr>
        <p:spPr>
          <a:xfrm>
            <a:off x="6830568" y="30632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revenue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6830568" y="338328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6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just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6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1,113 customers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6830568" y="3959352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₹1.54 Cr revenue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statistical tests confirm segmentation is real and targeted campaigns work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EBF5FB"/>
          </a:solidFill>
          <a:ln w="19050">
            <a:solidFill>
              <a:srgbClr val="1A6EB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188720"/>
            <a:ext cx="457200" cy="457200"/>
          </a:xfrm>
          <a:prstGeom prst="ellipse">
            <a:avLst/>
          </a:prstGeom>
          <a:solidFill>
            <a:srgbClr val="1A6EB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2070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Statistics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avg ₹13,860 vs Lost ₹1,158 — 12x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Mean, Median, Std Dev, Q1, Q3 calculated per segment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A6EBF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128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Clear spending hierarchy across 8 segments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EBF5FB"/>
          </a:solidFill>
          <a:ln w="19050">
            <a:solidFill>
              <a:srgbClr val="0F6B3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188720"/>
            <a:ext cx="457200" cy="457200"/>
          </a:xfrm>
          <a:prstGeom prst="ellipse">
            <a:avLst/>
          </a:prstGeom>
          <a:solidFill>
            <a:srgbClr val="0F6B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67528" y="12070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ANOVA 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1024.64  |  p &lt; 0.0000000001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ANOVA: H₀ = all segment means are equal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21284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0F6B3D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2128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REJECT H₀ — Segments ARE statistically different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EBF5FB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108960"/>
            <a:ext cx="457200" cy="4572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3127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Chi-Square Test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χ² = 14.64  |  p = 0.4034  |  df =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H₀ = RFM Segment and City are independent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13308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6B21A8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33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FAIL TO REJECT H₀ — Market by segment, NOT city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EBF5FB"/>
          </a:solidFill>
          <a:ln w="19050">
            <a:solidFill>
              <a:srgbClr val="7C2D1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3108960"/>
            <a:ext cx="457200" cy="45720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67528" y="3127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(Z-test)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19.23% vs Generic 8.01% — Z=5.78  p&lt;0.000001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15% coupon vs generic mass SMS on At-Risk customers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413308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7C2D12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133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REJECT H₀ — Targeted IS better by +140%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 — Campaign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D5F5E3"/>
          </a:solidFill>
          <a:ln w="25400">
            <a:solidFill>
              <a:srgbClr val="0F6B3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Campaign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15% coupon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At-Risk customers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F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3774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F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774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F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19.23%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774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60520" y="2103120"/>
            <a:ext cx="822960" cy="822960"/>
          </a:xfrm>
          <a:prstGeom prst="ellipse">
            <a:avLst/>
          </a:prstGeom>
          <a:solidFill>
            <a:srgbClr val="0D3B7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96012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EF9E7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051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Campaign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1755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SMS blast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all customers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4944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94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8.01%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Rate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0D3B7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3308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Targeted campaign generated +140% more responses  |  Z = 5.78  |  p &lt; 0.000001  |  Statistically proven at 99.9999% confidence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3 Pages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DAX measures | Interactive slicers | Real-time filtering by City, Segment, PilotGroup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1A6EB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1A6EB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07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72768" y="11887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KPI Cards — Revenue, Orders, Customers, AOV, Active 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72768" y="14264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Bar Chart — Revenue by City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72768" y="16642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Line Chart — Monthly Revenue Trend (24 months)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72768" y="1901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Donut Chart — Customer distribution by RFM Segment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12280" y="11887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A6EBF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26187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E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₹2.99 Cr total revenue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6E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2024 peak ₹3.9M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0F6B3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59152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0F6B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77063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 Segment Deep-Dive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72768" y="24505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KPI Cards — Champions, At-Risk, Lost, Avg RFM 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26883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Bar Chart — Avg Monetary by Segment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72768" y="29260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Donut Chart — Customer count per segment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72768" y="31638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Table — Full segment summary with Revenue Share 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2450592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0F6B3D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523744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Champions: 51.6%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all revenue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621024"/>
            <a:ext cx="8595360" cy="11430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7C2D1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21024"/>
            <a:ext cx="1188720" cy="1143000"/>
          </a:xfrm>
          <a:prstGeom prst="roundRect">
            <a:avLst>
              <a:gd name="adj" fmla="val 8000"/>
            </a:avLst>
          </a:prstGeom>
          <a:solidFill>
            <a:srgbClr val="7C2D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0325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&amp; A/B Results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72768" y="37124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KPI Cards — Targeted 19.23%, Generic 8.01%, Lift +140%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572768" y="39502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Bar Chart — Targeted vs Generic response comparison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72768" y="41879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Column Chart — At-Risk customers by City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72768" y="44256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Table — Segment targeting recommendations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3712464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7C2D12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785616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2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19.23% vs 8.01%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C2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+140% campaign lift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B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prioritised actions — from immediate wins to long-term strategy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024128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 w="15240">
            <a:solidFill>
              <a:srgbClr val="1A6EBF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02152" y="1097280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7C2D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02152" y="10972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384048" cy="384048"/>
          </a:xfrm>
          <a:prstGeom prst="ellipse">
            <a:avLst/>
          </a:prstGeom>
          <a:solidFill>
            <a:srgbClr val="1A6EB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1155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Champions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1,113 customers = 51.6% revenue. Launch VIP loyalty tier, exclusive early access, referral rewards.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WhatsApp + Email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04872" y="1874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E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Protect ₹1.54 Cr revenue 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90872" y="1024128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 w="15240">
            <a:solidFill>
              <a:srgbClr val="7C2D1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36992" y="1097280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7C2D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10972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82312" y="1097280"/>
            <a:ext cx="384048" cy="384048"/>
          </a:xfrm>
          <a:prstGeom prst="ellipse">
            <a:avLst/>
          </a:prstGeom>
          <a:solidFill>
            <a:srgbClr val="7C2D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11155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Back Cannot Lose Them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4813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282 high-value customers inactive for avg 412 days. Strong 20% coupon, personal outreach.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Phone + WhatsApp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39712" y="18745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Recover ₹21 Lakh potential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350008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02152" y="2423160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24231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47472" y="24231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24414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At-Risk with Personalised Coupon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8072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by A/B test — 19.23% response vs 8.01% generic. Deploy 15% personalised coupon NOW.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Targeted SMS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04872" y="3200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+140% better than mass SMS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90872" y="2350008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 w="15240">
            <a:solidFill>
              <a:srgbClr val="6B21A8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36992" y="2423160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6992" y="24231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82312" y="2423160"/>
            <a:ext cx="384048" cy="38404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24414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 Hibernating Customers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28072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735 customers haven't purchased in 351 days avg. Re-engagement campaign with feedback survey.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Email + SMS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39712" y="3200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735 customers × ₹2,246 avg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3675888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 w="15240">
            <a:solidFill>
              <a:srgbClr val="0F6B3D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502152" y="3749040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0F6B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2152" y="3749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47472" y="3749040"/>
            <a:ext cx="384048" cy="384048"/>
          </a:xfrm>
          <a:prstGeom prst="ellipse">
            <a:avLst/>
          </a:prstGeom>
          <a:solidFill>
            <a:srgbClr val="0F6B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37673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New Customers Properly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1330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 new customers — first repeat purchase is critical. Welcome email series + 10% discount.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Email + App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404872" y="45262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Convert one-time to repeat buyers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90872" y="3675888"/>
            <a:ext cx="4206240" cy="1207008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 w="1524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936992" y="3749040"/>
            <a:ext cx="868680" cy="237744"/>
          </a:xfrm>
          <a:prstGeom prst="roundRect">
            <a:avLst>
              <a:gd name="adj" fmla="val 19231"/>
            </a:avLst>
          </a:prstGeom>
          <a:solidFill>
            <a:srgbClr val="4755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36992" y="374904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782312" y="3749040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82312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57800" y="37673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Campaign for Lost Customers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00600" y="41330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1,235 lost customers — last-chance win-back. If no response, remove from active marketing list.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00600" y="4526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SMS only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839712" y="45262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Clean marketing list = cost saving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3B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A6EBF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C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184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(1,113 customers) generate 51.6% of all revenue — protect them at all costs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campaigns proven 140% better than mass SMS — scale to ALL segments 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6243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 segmentation is statistically valid — ANOVA F=1024, p&lt;0.00001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0815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1272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does NOT predict customer value — market by segment, not geography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5844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6301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is the peak month — plan inventory and campaigns for September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0873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1330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1,235 Lost customers = clean your list → reduce cost, focus on profitable segments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Kalirathna Devi Valaguru  |  Business / Data Analyst  |  GUVI BA &amp; AI Certification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FreshKart RFM Customer Segmentation</dc:title>
  <dc:subject>PptxGenJS Presentation</dc:subject>
  <dc:creator>Kalirathna Devi</dc:creator>
  <cp:lastModifiedBy>Kalirathna Devi</cp:lastModifiedBy>
  <cp:revision>1</cp:revision>
  <dcterms:created xsi:type="dcterms:W3CDTF">2026-08-07T13:55:43Z</dcterms:created>
  <dcterms:modified xsi:type="dcterms:W3CDTF">2026-08-07T13:55:43Z</dcterms:modified>
</cp:coreProperties>
</file>