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media/image12.jpg" ContentType="image/png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vi Balaji" initials="DB" lastIdx="1" clrIdx="0">
    <p:extLst>
      <p:ext uri="{19B8F6BF-5375-455C-9EA6-DF929625EA0E}">
        <p15:presenceInfo xmlns:p15="http://schemas.microsoft.com/office/powerpoint/2012/main" userId="2fb8d8aa461aca3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6600"/>
    <a:srgbClr val="F4EE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Quick Commerce Market Share</a:t>
            </a:r>
          </a:p>
        </c:rich>
      </c:tx>
      <c:layout>
        <c:manualLayout>
          <c:xMode val="edge"/>
          <c:yMode val="edge"/>
          <c:x val="0.26808355559263608"/>
          <c:y val="7.1031042616388372E-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tx>
            <c:v>Series1</c:v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C19-4485-BF69-8DD47C6A058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C19-4485-BF69-8DD47C6A058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C19-4485-BF69-8DD47C6A058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C19-4485-BF69-8DD47C6A0584}"/>
              </c:ext>
            </c:extLst>
          </c:dPt>
          <c:dLbls>
            <c:dLbl>
              <c:idx val="0"/>
              <c:layout>
                <c:manualLayout>
                  <c:x val="-0.21322586915298508"/>
                  <c:y val="4.5916081099554994E-2"/>
                </c:manualLayout>
              </c:layout>
              <c:tx>
                <c:rich>
                  <a:bodyPr/>
                  <a:lstStyle/>
                  <a:p>
                    <a:fld id="{77D97FFF-221A-4C35-A491-BB448ED889AE}" type="CELLRANGE">
                      <a:rPr lang="en-US" baseline="0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20212650-DB2F-4C7A-9CD1-862CC8B3B340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7C19-4485-BF69-8DD47C6A0584}"/>
                </c:ext>
              </c:extLst>
            </c:dLbl>
            <c:dLbl>
              <c:idx val="1"/>
              <c:layout>
                <c:manualLayout>
                  <c:x val="0.12188385376965122"/>
                  <c:y val="-0.2623509761714151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D256E366-98F0-4FBC-9B16-08D7ACAB0F81}" type="CELLRANGE">
                      <a:rPr lang="en-US" sz="1200" b="1" baseline="0">
                        <a:solidFill>
                          <a:schemeClr val="bg1"/>
                        </a:solidFill>
                      </a:rPr>
                      <a:pPr>
                        <a:defRPr sz="12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[CELLRANGE]</a:t>
                    </a:fld>
                    <a:r>
                      <a:rPr lang="en-US" sz="1200" b="1" baseline="0">
                        <a:solidFill>
                          <a:schemeClr val="bg1"/>
                        </a:solidFill>
                      </a:rPr>
                      <a:t>, </a:t>
                    </a:r>
                    <a:fld id="{0F87A4E4-E1CA-4843-BDE1-C9241861AF30}" type="CATEGORYNAME">
                      <a:rPr lang="en-US" sz="1200" b="1" baseline="0">
                        <a:solidFill>
                          <a:schemeClr val="bg1"/>
                        </a:solidFill>
                      </a:rPr>
                      <a:pPr>
                        <a:defRPr sz="12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[CATEGORY NAME]</a:t>
                    </a:fld>
                    <a:endParaRPr lang="en-US" sz="1200" b="1" baseline="0">
                      <a:solidFill>
                        <a:schemeClr val="bg1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5882589465219141"/>
                      <c:h val="0.1010381905821282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7C19-4485-BF69-8DD47C6A0584}"/>
                </c:ext>
              </c:extLst>
            </c:dLbl>
            <c:dLbl>
              <c:idx val="2"/>
              <c:layout>
                <c:manualLayout>
                  <c:x val="0.1690121885069408"/>
                  <c:y val="0.1407642653866744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7763F6F-85FD-491E-A891-6C87300F5930}" type="VALUE">
                      <a:rPr lang="en-US" sz="1200" b="1">
                        <a:solidFill>
                          <a:schemeClr val="bg1"/>
                        </a:solidFill>
                      </a:rPr>
                      <a:pPr>
                        <a:defRPr sz="120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[VALUE]</a:t>
                    </a:fld>
                    <a:r>
                      <a:rPr lang="en-US" sz="1200" b="1">
                        <a:solidFill>
                          <a:schemeClr val="bg1"/>
                        </a:solidFill>
                      </a:rPr>
                      <a:t>, Swiggy Instamart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062726176115803"/>
                      <c:h val="0.11308861698183166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7C19-4485-BF69-8DD47C6A0584}"/>
                </c:ext>
              </c:extLst>
            </c:dLbl>
            <c:dLbl>
              <c:idx val="3"/>
              <c:layout>
                <c:manualLayout>
                  <c:x val="3.357686140605641E-2"/>
                  <c:y val="0.1768312093982973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05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8F58BB67-24A2-4D08-9AB8-ED10533C5A8E}" type="VALUE">
                      <a:rPr lang="en-US" sz="1050" b="1">
                        <a:solidFill>
                          <a:schemeClr val="bg1"/>
                        </a:solidFill>
                      </a:rPr>
                      <a:pPr>
                        <a:defRPr sz="1050" b="1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[VALUE]</a:t>
                    </a:fld>
                    <a:r>
                      <a:rPr lang="en-US" sz="1050" b="1">
                        <a:solidFill>
                          <a:schemeClr val="bg1"/>
                        </a:solidFill>
                      </a:rPr>
                      <a:t>, Others</a:t>
                    </a:r>
                  </a:p>
                  <a:p>
                    <a:pPr>
                      <a:defRPr sz="105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endParaRPr lang="en-IN"/>
                  </a:p>
                </c:rich>
              </c:tx>
              <c:spPr>
                <a:noFill/>
                <a:ln>
                  <a:noFill/>
                </a:ln>
                <a:effectLst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2630042192576257E-2"/>
                      <c:h val="0.14367815514990642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7-7C19-4485-BF69-8DD47C6A058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Sheet4!$A$2:$A$5</c:f>
              <c:strCache>
                <c:ptCount val="4"/>
                <c:pt idx="0">
                  <c:v>Blinkit</c:v>
                </c:pt>
                <c:pt idx="1">
                  <c:v>Zepto</c:v>
                </c:pt>
                <c:pt idx="2">
                  <c:v>Swiggy Instamart</c:v>
                </c:pt>
                <c:pt idx="3">
                  <c:v>Others (Dunzo, BigBasket Now, local players)</c:v>
                </c:pt>
              </c:strCache>
            </c:strRef>
          </c:cat>
          <c:val>
            <c:numRef>
              <c:f>Sheet4!$B$2:$B$5</c:f>
              <c:numCache>
                <c:formatCode>0%</c:formatCode>
                <c:ptCount val="4"/>
                <c:pt idx="0">
                  <c:v>0.43</c:v>
                </c:pt>
                <c:pt idx="1">
                  <c:v>0.27</c:v>
                </c:pt>
                <c:pt idx="2">
                  <c:v>0.25</c:v>
                </c:pt>
                <c:pt idx="3">
                  <c:v>0.05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Sheet4!$A$2:$B$2</c15:f>
                <c15:dlblRangeCache>
                  <c:ptCount val="2"/>
                  <c:pt idx="0">
                    <c:v>Blinkit</c:v>
                  </c:pt>
                  <c:pt idx="1">
                    <c:v>43%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8-7C19-4485-BF69-8DD47C6A0584}"/>
            </c:ext>
          </c:extLst>
        </c:ser>
        <c:ser>
          <c:idx val="1"/>
          <c:order val="1"/>
          <c:tx>
            <c:strRef>
              <c:f>Sheet4!$A$4</c:f>
              <c:strCache>
                <c:ptCount val="1"/>
                <c:pt idx="0">
                  <c:v>Swiggy Instamart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7C19-4485-BF69-8DD47C6A0584}"/>
              </c:ext>
            </c:extLst>
          </c:dPt>
          <c:val>
            <c:numLit>
              <c:formatCode>General</c:formatCode>
              <c:ptCount val="1"/>
              <c:pt idx="0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B-7C19-4485-BF69-8DD47C6A05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201312608439785"/>
          <c:y val="0.10285350900807852"/>
          <c:w val="0.7822342955775955"/>
          <c:h val="6.215365375480158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rgbClr val="7030A0"/>
                </a:solidFill>
                <a:latin typeface="+mn-lt"/>
                <a:ea typeface="+mn-ea"/>
                <a:cs typeface="+mn-cs"/>
              </a:defRPr>
            </a:pPr>
            <a:r>
              <a:rPr lang="en-IN" sz="2000" b="1" dirty="0">
                <a:solidFill>
                  <a:srgbClr val="7030A0"/>
                </a:solidFill>
              </a:rPr>
              <a:t>Zepto</a:t>
            </a:r>
            <a:r>
              <a:rPr lang="en-IN" sz="2000" b="1" baseline="0" dirty="0">
                <a:solidFill>
                  <a:srgbClr val="7030A0"/>
                </a:solidFill>
              </a:rPr>
              <a:t> - Revenue Streams</a:t>
            </a:r>
            <a:r>
              <a:rPr lang="en-IN" sz="2000" b="1" dirty="0">
                <a:solidFill>
                  <a:srgbClr val="7030A0"/>
                </a:solidFill>
              </a:rPr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rgbClr val="7030A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Sheet3!$B$8:$B$12</c:f>
              <c:strCache>
                <c:ptCount val="5"/>
                <c:pt idx="0">
                  <c:v>Delivery Commissions</c:v>
                </c:pt>
                <c:pt idx="1">
                  <c:v>Delivery Fees (Users)</c:v>
                </c:pt>
                <c:pt idx="2">
                  <c:v>Advertising &amp; Sponsored Listings</c:v>
                </c:pt>
                <c:pt idx="3">
                  <c:v>Private-Label Products</c:v>
                </c:pt>
                <c:pt idx="4">
                  <c:v>Subscription &amp; Loyalty Plans</c:v>
                </c:pt>
              </c:strCache>
            </c:strRef>
          </c:cat>
          <c:val>
            <c:numRef>
              <c:f>Sheet3!$C$8:$C$12</c:f>
              <c:numCache>
                <c:formatCode>0%</c:formatCode>
                <c:ptCount val="5"/>
                <c:pt idx="0">
                  <c:v>0.45</c:v>
                </c:pt>
                <c:pt idx="1">
                  <c:v>0.2</c:v>
                </c:pt>
                <c:pt idx="2">
                  <c:v>0.15</c:v>
                </c:pt>
                <c:pt idx="3">
                  <c:v>0.1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E3-4C8E-BC31-72489CD31A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11892752"/>
        <c:axId val="2011875952"/>
      </c:barChart>
      <c:catAx>
        <c:axId val="201189275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1875952"/>
        <c:crosses val="autoZero"/>
        <c:auto val="1"/>
        <c:lblAlgn val="ctr"/>
        <c:lblOffset val="100"/>
        <c:noMultiLvlLbl val="0"/>
      </c:catAx>
      <c:valAx>
        <c:axId val="20118759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1892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Sheet1!$D$3</c:f>
              <c:strCache>
                <c:ptCount val="1"/>
                <c:pt idx="0">
                  <c:v>Share of Total Cost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Sheet1!$C$4:$C$8</c:f>
              <c:strCache>
                <c:ptCount val="5"/>
                <c:pt idx="0">
                  <c:v>Rider payouts &amp; logistics</c:v>
                </c:pt>
                <c:pt idx="1">
                  <c:v>Dark store operations</c:v>
                </c:pt>
                <c:pt idx="2">
                  <c:v>Marketing &amp; discounts</c:v>
                </c:pt>
                <c:pt idx="3">
                  <c:v>Technology &amp; routing</c:v>
                </c:pt>
                <c:pt idx="4">
                  <c:v>Other overheads</c:v>
                </c:pt>
              </c:strCache>
            </c:strRef>
          </c:cat>
          <c:val>
            <c:numRef>
              <c:f>Sheet1!$D$4:$D$8</c:f>
              <c:numCache>
                <c:formatCode>0%</c:formatCode>
                <c:ptCount val="5"/>
                <c:pt idx="0">
                  <c:v>0.45</c:v>
                </c:pt>
                <c:pt idx="1">
                  <c:v>0.25</c:v>
                </c:pt>
                <c:pt idx="2">
                  <c:v>0.2</c:v>
                </c:pt>
                <c:pt idx="3">
                  <c:v>0.02</c:v>
                </c:pt>
                <c:pt idx="4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FE-46C2-A87E-EBE1EE542C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11876912"/>
        <c:axId val="2011894192"/>
      </c:barChart>
      <c:catAx>
        <c:axId val="20118769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1894192"/>
        <c:crosses val="autoZero"/>
        <c:auto val="1"/>
        <c:lblAlgn val="ctr"/>
        <c:lblOffset val="100"/>
        <c:noMultiLvlLbl val="0"/>
      </c:catAx>
      <c:valAx>
        <c:axId val="20118941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1876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Relationship Id="rId9" Type="http://schemas.openxmlformats.org/officeDocument/2006/relationships/hyperlink" Target="http://zeptonow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470025"/>
          </a:xfrm>
          <a:solidFill>
            <a:srgbClr val="7030A0"/>
          </a:solidFill>
          <a:ln w="57150">
            <a:solidFill>
              <a:srgbClr val="FF0066"/>
            </a:solidFill>
          </a:ln>
        </p:spPr>
        <p:txBody>
          <a:bodyPr>
            <a:normAutofit/>
          </a:bodyPr>
          <a:lstStyle/>
          <a:p>
            <a:r>
              <a:rPr b="1" dirty="0">
                <a:solidFill>
                  <a:srgbClr val="FF0066"/>
                </a:solidFill>
              </a:rPr>
              <a:t>ZEPTO – Business Strategy Report</a:t>
            </a:r>
          </a:p>
          <a:p>
            <a:r>
              <a:rPr b="1" dirty="0">
                <a:solidFill>
                  <a:srgbClr val="FF0066"/>
                </a:solidFill>
              </a:rPr>
              <a:t>(Qualitative &amp; Quantitative Analysis)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DE9619-338E-0530-F531-1B65FA836EE2}"/>
              </a:ext>
            </a:extLst>
          </p:cNvPr>
          <p:cNvSpPr txBox="1"/>
          <p:nvPr/>
        </p:nvSpPr>
        <p:spPr>
          <a:xfrm>
            <a:off x="53340" y="1470025"/>
            <a:ext cx="9578340" cy="938719"/>
          </a:xfrm>
          <a:prstGeom prst="rect">
            <a:avLst/>
          </a:prstGeom>
          <a:noFill/>
          <a:ln w="76200">
            <a:noFill/>
          </a:ln>
        </p:spPr>
        <p:txBody>
          <a:bodyPr wrap="square">
            <a:spAutoFit/>
          </a:bodyPr>
          <a:lstStyle/>
          <a:p>
            <a:r>
              <a:rPr lang="en-IN" sz="5500" b="1" i="0" dirty="0">
                <a:solidFill>
                  <a:srgbClr val="FF0066"/>
                </a:solidFill>
                <a:effectLst>
                  <a:glow rad="127000">
                    <a:srgbClr val="7030A0"/>
                  </a:glow>
                </a:effectLst>
                <a:latin typeface="Google Sans"/>
              </a:rPr>
              <a:t>Zepto: The 10 - minute magic.</a:t>
            </a:r>
            <a:endParaRPr lang="en-IN" sz="5500" dirty="0">
              <a:solidFill>
                <a:srgbClr val="FF0066"/>
              </a:solidFill>
              <a:effectLst>
                <a:glow rad="127000">
                  <a:srgbClr val="7030A0"/>
                </a:glo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04" y="219557"/>
            <a:ext cx="8990592" cy="658616"/>
          </a:xfrm>
          <a:solidFill>
            <a:schemeClr val="accent4">
              <a:lumMod val="75000"/>
            </a:schemeClr>
          </a:solidFill>
        </p:spPr>
        <p:txBody>
          <a:bodyPr>
            <a:normAutofit fontScale="90000"/>
          </a:bodyPr>
          <a:lstStyle/>
          <a:p>
            <a:pPr algn="l"/>
            <a:r>
              <a:rPr dirty="0">
                <a:solidFill>
                  <a:schemeClr val="bg1"/>
                </a:solidFill>
              </a:rPr>
              <a:t>Company Introduction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AEAB43-3D98-20FE-C6FA-85AD928892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40" t="26469" r="7378" b="25661"/>
          <a:stretch>
            <a:fillRect/>
          </a:stretch>
        </p:blipFill>
        <p:spPr>
          <a:xfrm>
            <a:off x="1137061" y="966139"/>
            <a:ext cx="1720439" cy="65157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641FEE-650E-4855-EAEE-F3E54B431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20" y="5069965"/>
            <a:ext cx="589061" cy="5890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FA37F1-1756-A358-54C8-D99C68275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45" y="3243863"/>
            <a:ext cx="631936" cy="6319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829BDC-8C61-1B14-2DA2-FC2954A532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68" t="8208" r="6302" b="5284"/>
          <a:stretch>
            <a:fillRect/>
          </a:stretch>
        </p:blipFill>
        <p:spPr>
          <a:xfrm>
            <a:off x="80872" y="4075842"/>
            <a:ext cx="841082" cy="6041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96D70F-3394-C8E0-3A77-90B1D0D256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446" y="2460809"/>
            <a:ext cx="589935" cy="58993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7B9C9A-403A-C781-C596-D01AD16BE39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266" t="15345" r="16693" b="22577"/>
          <a:stretch>
            <a:fillRect/>
          </a:stretch>
        </p:blipFill>
        <p:spPr>
          <a:xfrm>
            <a:off x="268219" y="1711217"/>
            <a:ext cx="636448" cy="62087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4FD84CE-C5CB-5A57-7D24-6A3406CC834E}"/>
              </a:ext>
            </a:extLst>
          </p:cNvPr>
          <p:cNvSpPr txBox="1"/>
          <p:nvPr/>
        </p:nvSpPr>
        <p:spPr>
          <a:xfrm rot="10800000" flipV="1">
            <a:off x="1059898" y="1808868"/>
            <a:ext cx="28612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Founded in 2021 by Aadit Palicha &amp; </a:t>
            </a:r>
          </a:p>
          <a:p>
            <a:r>
              <a:rPr lang="en-US" sz="1400" b="1" dirty="0"/>
              <a:t>Kaivalya Vohra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8C7874-BDED-3B1B-4A16-8DE5DEAA547E}"/>
              </a:ext>
            </a:extLst>
          </p:cNvPr>
          <p:cNvSpPr txBox="1"/>
          <p:nvPr/>
        </p:nvSpPr>
        <p:spPr>
          <a:xfrm>
            <a:off x="1150695" y="2662139"/>
            <a:ext cx="1761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Bengaluru, India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9917511-7573-3E90-548E-C9A683F403C7}"/>
              </a:ext>
            </a:extLst>
          </p:cNvPr>
          <p:cNvSpPr txBox="1"/>
          <p:nvPr/>
        </p:nvSpPr>
        <p:spPr>
          <a:xfrm>
            <a:off x="1002635" y="4013537"/>
            <a:ext cx="18018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Quick Commerce (10-minute grocery delivery)</a:t>
            </a:r>
            <a:endParaRPr lang="en-IN" sz="14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0BB0CA-36A6-FDF7-A4FC-F1C5A92AD67D}"/>
              </a:ext>
            </a:extLst>
          </p:cNvPr>
          <p:cNvSpPr txBox="1"/>
          <p:nvPr/>
        </p:nvSpPr>
        <p:spPr>
          <a:xfrm>
            <a:off x="1010968" y="3274000"/>
            <a:ext cx="1999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Grocery, essentials, FMCG via app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93F643-E5EC-9A9A-497D-E4116F9929D1}"/>
              </a:ext>
            </a:extLst>
          </p:cNvPr>
          <p:cNvSpPr txBox="1"/>
          <p:nvPr/>
        </p:nvSpPr>
        <p:spPr>
          <a:xfrm>
            <a:off x="921954" y="5057315"/>
            <a:ext cx="25509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Urban millennials, working professionals, families</a:t>
            </a:r>
            <a:endParaRPr lang="en-IN" sz="1400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2D43EF0-0906-313C-C893-E6765B1370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4002051"/>
              </p:ext>
            </p:extLst>
          </p:nvPr>
        </p:nvGraphicFramePr>
        <p:xfrm>
          <a:off x="1683007" y="747074"/>
          <a:ext cx="7814821" cy="5363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94386F2-DBBA-3978-2B8B-354F64059EDA}"/>
              </a:ext>
            </a:extLst>
          </p:cNvPr>
          <p:cNvSpPr txBox="1"/>
          <p:nvPr/>
        </p:nvSpPr>
        <p:spPr>
          <a:xfrm>
            <a:off x="268219" y="6110926"/>
            <a:ext cx="8461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Revenue : ₹4,454 crore	 Net Income - ₹−1,248 crore	Website :  Zeptonow.com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96F007-B283-F7E6-415A-1AC951C7B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3110"/>
            <a:ext cx="1359822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9"/>
              </a:rPr>
              <a:t>zeptonow.com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819E11B-CEAC-3CEB-16E2-1350BA875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9"/>
              </a:rPr>
              <a:t>zeptonow.com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27E238-9B2D-BACE-4A33-BA132ED28F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27"/>
          <a:stretch>
            <a:fillRect/>
          </a:stretch>
        </p:blipFill>
        <p:spPr>
          <a:xfrm>
            <a:off x="91242" y="373380"/>
            <a:ext cx="4001986" cy="46921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C5B8DD-E64D-1A01-B0FF-D870DE6EBE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70" r="8517" b="11220"/>
          <a:stretch>
            <a:fillRect/>
          </a:stretch>
        </p:blipFill>
        <p:spPr>
          <a:xfrm>
            <a:off x="4201240" y="1142898"/>
            <a:ext cx="4721978" cy="333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521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78D17121-1EB4-B89B-E5B9-2C360481E142}"/>
              </a:ext>
            </a:extLst>
          </p:cNvPr>
          <p:cNvSpPr/>
          <p:nvPr/>
        </p:nvSpPr>
        <p:spPr>
          <a:xfrm>
            <a:off x="76705" y="1028699"/>
            <a:ext cx="2856996" cy="1317543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Revenue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</a:rPr>
              <a:t>Product margins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</a:rPr>
              <a:t>Delivery fees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</a:rPr>
              <a:t>Subscriptions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</a:rPr>
              <a:t>Brand ads</a:t>
            </a:r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905A5612-B236-D7C1-B12E-BCD792CC0867}"/>
              </a:ext>
            </a:extLst>
          </p:cNvPr>
          <p:cNvSpPr/>
          <p:nvPr/>
        </p:nvSpPr>
        <p:spPr>
          <a:xfrm>
            <a:off x="2933701" y="1675316"/>
            <a:ext cx="3083619" cy="1236604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Major Costs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</a:rPr>
              <a:t>Dark stores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</a:rPr>
              <a:t>Delivery partners, 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</a:rPr>
              <a:t>Technology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</a:rPr>
              <a:t>Marketing</a:t>
            </a:r>
          </a:p>
        </p:txBody>
      </p:sp>
      <p:sp>
        <p:nvSpPr>
          <p:cNvPr id="12" name="Rectangle: Diagonal Corners Snipped 11">
            <a:extLst>
              <a:ext uri="{FF2B5EF4-FFF2-40B4-BE49-F238E27FC236}">
                <a16:creationId xmlns:a16="http://schemas.microsoft.com/office/drawing/2014/main" id="{1619733E-BEE8-1184-A6F0-BCFE06A136E0}"/>
              </a:ext>
            </a:extLst>
          </p:cNvPr>
          <p:cNvSpPr/>
          <p:nvPr/>
        </p:nvSpPr>
        <p:spPr>
          <a:xfrm>
            <a:off x="5384453" y="1016914"/>
            <a:ext cx="3028027" cy="1262124"/>
          </a:xfrm>
          <a:prstGeom prst="snip2DiagRect">
            <a:avLst>
              <a:gd name="adj1" fmla="val 0"/>
              <a:gd name="adj2" fmla="val 50000"/>
            </a:avLst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Value Delivery</a:t>
            </a:r>
            <a:r>
              <a:rPr lang="en-US" sz="1400" dirty="0">
                <a:solidFill>
                  <a:schemeClr val="bg1"/>
                </a:solidFill>
              </a:rPr>
              <a:t>: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</a:rPr>
              <a:t>Ultra-fast delivery,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</a:rPr>
              <a:t>Convenience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bg1"/>
                </a:solidFill>
              </a:rPr>
              <a:t>wide assortment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12BE75-15CA-AB71-7688-8F381990C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68265">
            <a:off x="193429" y="1405223"/>
            <a:ext cx="543259" cy="543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4E8544-B9CE-B4E9-B961-67D01AB5F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350767">
            <a:off x="5782508" y="1702358"/>
            <a:ext cx="401662" cy="4016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6DF7B5F-15A5-9FCE-40E0-002ABA3FD0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530" t="8734" r="19820" b="22960"/>
          <a:stretch>
            <a:fillRect/>
          </a:stretch>
        </p:blipFill>
        <p:spPr>
          <a:xfrm rot="2811897">
            <a:off x="3208831" y="2254893"/>
            <a:ext cx="436198" cy="419379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DD51DF8-5C43-E450-8364-B34250D8EE28}"/>
              </a:ext>
            </a:extLst>
          </p:cNvPr>
          <p:cNvSpPr txBox="1">
            <a:spLocks/>
          </p:cNvSpPr>
          <p:nvPr/>
        </p:nvSpPr>
        <p:spPr>
          <a:xfrm>
            <a:off x="76704" y="116870"/>
            <a:ext cx="8990592" cy="65861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>
                <a:solidFill>
                  <a:schemeClr val="bg1"/>
                </a:solidFill>
              </a:rPr>
              <a:t>Business Model Analysis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B1EEA8A-98AD-FF38-4EFC-6D707716F6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0446529"/>
              </p:ext>
            </p:extLst>
          </p:nvPr>
        </p:nvGraphicFramePr>
        <p:xfrm>
          <a:off x="591227" y="2844145"/>
          <a:ext cx="6842760" cy="2524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294668C-4DDF-09D5-425E-8DF9ECD85A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4268806"/>
              </p:ext>
            </p:extLst>
          </p:nvPr>
        </p:nvGraphicFramePr>
        <p:xfrm>
          <a:off x="1069941" y="1055802"/>
          <a:ext cx="7121952" cy="4788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EF09FB6-0064-87FE-8D2B-CB4E6481527B}"/>
              </a:ext>
            </a:extLst>
          </p:cNvPr>
          <p:cNvSpPr txBox="1">
            <a:spLocks/>
          </p:cNvSpPr>
          <p:nvPr/>
        </p:nvSpPr>
        <p:spPr>
          <a:xfrm>
            <a:off x="776000" y="198837"/>
            <a:ext cx="7592000" cy="65861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Cost Structure Breakdown of E-commerce Industry</a:t>
            </a:r>
          </a:p>
        </p:txBody>
      </p:sp>
    </p:spTree>
    <p:extLst>
      <p:ext uri="{BB962C8B-B14F-4D97-AF65-F5344CB8AC3E}">
        <p14:creationId xmlns:p14="http://schemas.microsoft.com/office/powerpoint/2010/main" val="2794371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880A817-3777-5116-CCB8-D63FD50AC7F4}"/>
              </a:ext>
            </a:extLst>
          </p:cNvPr>
          <p:cNvSpPr/>
          <p:nvPr/>
        </p:nvSpPr>
        <p:spPr>
          <a:xfrm>
            <a:off x="1617330" y="971354"/>
            <a:ext cx="2954670" cy="2890262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rgbClr val="FFFF00"/>
              </a:solidFill>
            </a:endParaRPr>
          </a:p>
          <a:p>
            <a:pPr algn="ctr"/>
            <a:endParaRPr lang="en-IN" sz="1600" b="1" dirty="0">
              <a:solidFill>
                <a:srgbClr val="FFFF00"/>
              </a:solidFill>
            </a:endParaRPr>
          </a:p>
          <a:p>
            <a:pPr algn="ctr"/>
            <a:r>
              <a:rPr lang="en-IN" sz="1600" b="1" dirty="0">
                <a:solidFill>
                  <a:srgbClr val="FFFF00"/>
                </a:solidFill>
              </a:rPr>
              <a:t>Key Differentiators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10‑minute delivery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 Dark store network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AI‑driven logistics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 Reliable stock Availability.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960D219-18D5-C208-A754-310F8DC55FE9}"/>
              </a:ext>
            </a:extLst>
          </p:cNvPr>
          <p:cNvSpPr/>
          <p:nvPr/>
        </p:nvSpPr>
        <p:spPr>
          <a:xfrm>
            <a:off x="4604369" y="845820"/>
            <a:ext cx="3063705" cy="2890262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b="1" dirty="0">
              <a:solidFill>
                <a:srgbClr val="FFFF00"/>
              </a:solidFill>
            </a:endParaRPr>
          </a:p>
          <a:p>
            <a:pPr algn="ctr"/>
            <a:r>
              <a:rPr lang="en-IN" sz="1600" b="1" dirty="0">
                <a:solidFill>
                  <a:srgbClr val="FFFF00"/>
                </a:solidFill>
              </a:rPr>
              <a:t>Customer Attraction</a:t>
            </a:r>
          </a:p>
          <a:p>
            <a:pPr algn="ctr"/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Speed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Convenience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Wide product range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Competitive pricing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Consistent service.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1014C7-D8A7-6927-01A2-832C430A14FF}"/>
              </a:ext>
            </a:extLst>
          </p:cNvPr>
          <p:cNvSpPr/>
          <p:nvPr/>
        </p:nvSpPr>
        <p:spPr>
          <a:xfrm>
            <a:off x="3130016" y="3111391"/>
            <a:ext cx="3025372" cy="269505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>
              <a:solidFill>
                <a:srgbClr val="FFFF00"/>
              </a:solidFill>
            </a:endParaRPr>
          </a:p>
          <a:p>
            <a:endParaRPr lang="en-IN" b="1" dirty="0">
              <a:solidFill>
                <a:srgbClr val="FFFF00"/>
              </a:solidFill>
            </a:endParaRPr>
          </a:p>
          <a:p>
            <a:r>
              <a:rPr lang="en-IN" sz="1600" b="1" dirty="0">
                <a:solidFill>
                  <a:srgbClr val="FFFF00"/>
                </a:solidFill>
              </a:rPr>
              <a:t>Branding &amp; Experience</a:t>
            </a:r>
          </a:p>
          <a:p>
            <a:endParaRPr lang="en-IN" sz="1600" b="1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Youthful image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 Modern app design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 Customer‑centric Messaging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Loyalty programs.</a:t>
            </a:r>
          </a:p>
          <a:p>
            <a:br>
              <a:rPr lang="en-US" dirty="0"/>
            </a:br>
            <a:endParaRPr lang="en-IN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80DF8287-97FE-844F-78D1-8DB5FA13EE5E}"/>
              </a:ext>
            </a:extLst>
          </p:cNvPr>
          <p:cNvSpPr/>
          <p:nvPr/>
        </p:nvSpPr>
        <p:spPr>
          <a:xfrm>
            <a:off x="3593299" y="2027863"/>
            <a:ext cx="1892665" cy="1401137"/>
          </a:xfrm>
          <a:prstGeom prst="triangle">
            <a:avLst>
              <a:gd name="adj" fmla="val 49705"/>
            </a:avLst>
          </a:prstGeom>
          <a:solidFill>
            <a:schemeClr val="bg1"/>
          </a:solidFill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accent2">
                    <a:lumMod val="75000"/>
                  </a:schemeClr>
                </a:solidFill>
              </a:rPr>
              <a:t> USP = Speed + Reliability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8B2BE3F-70EF-7D1F-9598-1FDA7EC95C40}"/>
              </a:ext>
            </a:extLst>
          </p:cNvPr>
          <p:cNvSpPr txBox="1">
            <a:spLocks/>
          </p:cNvSpPr>
          <p:nvPr/>
        </p:nvSpPr>
        <p:spPr>
          <a:xfrm>
            <a:off x="147406" y="123422"/>
            <a:ext cx="8990592" cy="65861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>
                <a:solidFill>
                  <a:schemeClr val="bg1"/>
                </a:solidFill>
              </a:rPr>
              <a:t>Unique Selling Proposition (USP)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014" y="1013461"/>
            <a:ext cx="8535971" cy="3985260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 </a:t>
            </a:r>
            <a:r>
              <a:rPr lang="en-US" sz="2000" b="1" dirty="0"/>
              <a:t>Market Pain Points (Before Zepto): </a:t>
            </a:r>
            <a:r>
              <a:rPr lang="en-US" sz="2000" dirty="0"/>
              <a:t>Slow grocery deliveries, unreliable stock, and lack of convenience for busy urban lifestyles.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Problem Solved</a:t>
            </a:r>
            <a:r>
              <a:rPr lang="en-US" sz="2000" dirty="0"/>
              <a:t>: Zepto introduced 10‑minute delivery with dark stores and tech‑driven logistics, ensuring speed and reliability.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Customer Benefits: </a:t>
            </a:r>
            <a:r>
              <a:rPr lang="en-US" sz="2000" dirty="0"/>
              <a:t>Saves time, offers convenience, ensures product availability, and supports fast‑paced urban living.</a:t>
            </a:r>
            <a:endParaRPr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A5038F9-43B6-FB48-AEAA-FCF3EC87AF6C}"/>
              </a:ext>
            </a:extLst>
          </p:cNvPr>
          <p:cNvSpPr txBox="1">
            <a:spLocks/>
          </p:cNvSpPr>
          <p:nvPr/>
        </p:nvSpPr>
        <p:spPr>
          <a:xfrm>
            <a:off x="2578" y="171815"/>
            <a:ext cx="8990592" cy="65861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>
                <a:solidFill>
                  <a:schemeClr val="bg1"/>
                </a:solidFill>
              </a:rPr>
              <a:t>Market Gap &amp; Customer Needs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2C79C6-8B93-5462-8FC3-15B4E9EDF2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846" b="9553"/>
          <a:stretch>
            <a:fillRect/>
          </a:stretch>
        </p:blipFill>
        <p:spPr>
          <a:xfrm>
            <a:off x="522402" y="2366225"/>
            <a:ext cx="2624832" cy="179543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EBD96D-B149-9441-99C6-E24ED92F12B1}"/>
              </a:ext>
            </a:extLst>
          </p:cNvPr>
          <p:cNvSpPr/>
          <p:nvPr/>
        </p:nvSpPr>
        <p:spPr>
          <a:xfrm>
            <a:off x="4599495" y="1261144"/>
            <a:ext cx="4308049" cy="54675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500" dist="508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Inventory AI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A8D7A9-E487-E9A1-7DEA-04D549104E04}"/>
              </a:ext>
            </a:extLst>
          </p:cNvPr>
          <p:cNvSpPr/>
          <p:nvPr/>
        </p:nvSpPr>
        <p:spPr>
          <a:xfrm>
            <a:off x="4599493" y="2565067"/>
            <a:ext cx="4308049" cy="54675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500" dist="508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/>
              <a:t>Geospatial Tracking</a:t>
            </a:r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62910C-BA62-A18D-B551-6B96D55C300C}"/>
              </a:ext>
            </a:extLst>
          </p:cNvPr>
          <p:cNvSpPr/>
          <p:nvPr/>
        </p:nvSpPr>
        <p:spPr>
          <a:xfrm>
            <a:off x="4599492" y="3789498"/>
            <a:ext cx="4308049" cy="54675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500" dist="508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Proprietary Algorithms for Logistics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7995CE-4081-ED71-1DA4-49E50EE9B9D6}"/>
              </a:ext>
            </a:extLst>
          </p:cNvPr>
          <p:cNvSpPr/>
          <p:nvPr/>
        </p:nvSpPr>
        <p:spPr>
          <a:xfrm>
            <a:off x="4599494" y="5126525"/>
            <a:ext cx="4308049" cy="54675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  <a:reflection blurRad="6350" stA="50000" endA="300" endPos="55500" dist="50800" dir="5400000" sy="-100000" algn="bl" rotWithShape="0"/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Innovation:</a:t>
            </a:r>
            <a:r>
              <a:rPr lang="en-IN" dirty="0"/>
              <a:t> </a:t>
            </a:r>
            <a:r>
              <a:rPr lang="en-IN" b="1" dirty="0"/>
              <a:t>Zepto Cafe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232415C-6D6F-E7EA-0447-6F0AA993AAD5}"/>
              </a:ext>
            </a:extLst>
          </p:cNvPr>
          <p:cNvCxnSpPr>
            <a:endCxn id="7" idx="1"/>
          </p:cNvCxnSpPr>
          <p:nvPr/>
        </p:nvCxnSpPr>
        <p:spPr>
          <a:xfrm flipV="1">
            <a:off x="3147234" y="1534521"/>
            <a:ext cx="1452261" cy="130392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35207B-AE33-AC3F-5BEF-9016F7EBFC36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122866" y="3627094"/>
            <a:ext cx="1476628" cy="177280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BB321F-72AD-CCC8-44E1-C2A968182D2D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147234" y="3404202"/>
            <a:ext cx="1452258" cy="65867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E8CE94-1F64-5FCA-7BF5-EBD5F32C947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3147234" y="2838444"/>
            <a:ext cx="1452259" cy="42550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BF57A115-4A09-AC8A-E3C9-7143F88535E5}"/>
              </a:ext>
            </a:extLst>
          </p:cNvPr>
          <p:cNvSpPr txBox="1">
            <a:spLocks/>
          </p:cNvSpPr>
          <p:nvPr/>
        </p:nvSpPr>
        <p:spPr>
          <a:xfrm>
            <a:off x="2578" y="171815"/>
            <a:ext cx="8990592" cy="65861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>
                <a:solidFill>
                  <a:schemeClr val="bg1"/>
                </a:solidFill>
              </a:rPr>
              <a:t>Technology &amp; Innovation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7D8671-97C2-4BD2-F4F5-35CDE65AC699}"/>
              </a:ext>
            </a:extLst>
          </p:cNvPr>
          <p:cNvSpPr txBox="1"/>
          <p:nvPr/>
        </p:nvSpPr>
        <p:spPr>
          <a:xfrm>
            <a:off x="141402" y="6061116"/>
            <a:ext cx="9068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effectLst/>
                <a:latin typeface="Inter"/>
              </a:rPr>
              <a:t>Zepto</a:t>
            </a:r>
            <a:r>
              <a:rPr lang="en-US" b="0" i="0">
                <a:effectLst/>
                <a:latin typeface="Inter"/>
              </a:rPr>
              <a:t> launched </a:t>
            </a:r>
            <a:r>
              <a:rPr lang="en-US" b="0" i="0" dirty="0">
                <a:effectLst/>
                <a:latin typeface="Inter"/>
              </a:rPr>
              <a:t>subscription-based AI tool 'Atom' to enhance brand insights and performance.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iley Face 3">
            <a:extLst>
              <a:ext uri="{FF2B5EF4-FFF2-40B4-BE49-F238E27FC236}">
                <a16:creationId xmlns:a16="http://schemas.microsoft.com/office/drawing/2014/main" id="{60D295A2-F445-0560-4A79-63A6E97C5FA8}"/>
              </a:ext>
            </a:extLst>
          </p:cNvPr>
          <p:cNvSpPr/>
          <p:nvPr/>
        </p:nvSpPr>
        <p:spPr>
          <a:xfrm>
            <a:off x="6174556" y="1135698"/>
            <a:ext cx="1385740" cy="1357460"/>
          </a:xfrm>
          <a:prstGeom prst="smileyFace">
            <a:avLst>
              <a:gd name="adj" fmla="val 4653"/>
            </a:avLst>
          </a:prstGeom>
          <a:solidFill>
            <a:srgbClr val="92D050"/>
          </a:solidFill>
          <a:ln w="38100">
            <a:solidFill>
              <a:srgbClr val="00B050"/>
            </a:solidFill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E9A9A670-EE1B-A086-24F8-20D615E2736C}"/>
              </a:ext>
            </a:extLst>
          </p:cNvPr>
          <p:cNvSpPr/>
          <p:nvPr/>
        </p:nvSpPr>
        <p:spPr>
          <a:xfrm>
            <a:off x="6240544" y="4408370"/>
            <a:ext cx="1385740" cy="1357460"/>
          </a:xfrm>
          <a:prstGeom prst="smileyFace">
            <a:avLst>
              <a:gd name="adj" fmla="val -4653"/>
            </a:avLst>
          </a:prstGeom>
          <a:solidFill>
            <a:srgbClr val="FF0000"/>
          </a:solidFill>
          <a:ln w="38100">
            <a:solidFill>
              <a:schemeClr val="accent6">
                <a:lumMod val="50000"/>
              </a:schemeClr>
            </a:solidFill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0A86E930-898D-0263-AAE1-56F05CBA0763}"/>
              </a:ext>
            </a:extLst>
          </p:cNvPr>
          <p:cNvSpPr/>
          <p:nvPr/>
        </p:nvSpPr>
        <p:spPr>
          <a:xfrm>
            <a:off x="6174556" y="2645558"/>
            <a:ext cx="1385740" cy="1357460"/>
          </a:xfrm>
          <a:prstGeom prst="smileyFace">
            <a:avLst>
              <a:gd name="adj" fmla="val -208"/>
            </a:avLst>
          </a:prstGeom>
          <a:solidFill>
            <a:srgbClr val="FFFF00"/>
          </a:solidFill>
          <a:ln w="38100">
            <a:solidFill>
              <a:srgbClr val="FFC000"/>
            </a:solidFill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E5F9BC11-C241-22E7-29A8-B777544FB7DF}"/>
              </a:ext>
            </a:extLst>
          </p:cNvPr>
          <p:cNvSpPr/>
          <p:nvPr/>
        </p:nvSpPr>
        <p:spPr>
          <a:xfrm>
            <a:off x="942679" y="1186366"/>
            <a:ext cx="5165889" cy="1250230"/>
          </a:xfrm>
          <a:prstGeom prst="notchedRightArrow">
            <a:avLst/>
          </a:prstGeom>
          <a:noFill/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5E496D49-62A5-AC3F-7919-94CB00BF3335}"/>
              </a:ext>
            </a:extLst>
          </p:cNvPr>
          <p:cNvSpPr/>
          <p:nvPr/>
        </p:nvSpPr>
        <p:spPr>
          <a:xfrm>
            <a:off x="1008667" y="2794651"/>
            <a:ext cx="5165889" cy="1275924"/>
          </a:xfrm>
          <a:prstGeom prst="notchedRightArrow">
            <a:avLst/>
          </a:prstGeom>
          <a:noFill/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Notched Right 8">
            <a:extLst>
              <a:ext uri="{FF2B5EF4-FFF2-40B4-BE49-F238E27FC236}">
                <a16:creationId xmlns:a16="http://schemas.microsoft.com/office/drawing/2014/main" id="{3800A896-1C6C-3037-4B84-FA2506B0A75C}"/>
              </a:ext>
            </a:extLst>
          </p:cNvPr>
          <p:cNvSpPr/>
          <p:nvPr/>
        </p:nvSpPr>
        <p:spPr>
          <a:xfrm>
            <a:off x="1008667" y="4556842"/>
            <a:ext cx="5165889" cy="1275924"/>
          </a:xfrm>
          <a:prstGeom prst="notched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9205A2-CD05-743A-7E1A-FBF1D1F84A87}"/>
              </a:ext>
            </a:extLst>
          </p:cNvPr>
          <p:cNvSpPr txBox="1"/>
          <p:nvPr/>
        </p:nvSpPr>
        <p:spPr>
          <a:xfrm>
            <a:off x="1239623" y="1491261"/>
            <a:ext cx="4727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Speed, convenience, app usability, and competitive pricing.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D69846-260C-0596-95B6-FC20A44676A5}"/>
              </a:ext>
            </a:extLst>
          </p:cNvPr>
          <p:cNvSpPr txBox="1"/>
          <p:nvPr/>
        </p:nvSpPr>
        <p:spPr>
          <a:xfrm>
            <a:off x="1239623" y="3145272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Hidden fees, inflated MRPs, and slow customer support</a:t>
            </a:r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993061-33E9-E05D-1AF5-4A058460F7CF}"/>
              </a:ext>
            </a:extLst>
          </p:cNvPr>
          <p:cNvSpPr txBox="1"/>
          <p:nvPr/>
        </p:nvSpPr>
        <p:spPr>
          <a:xfrm>
            <a:off x="1305611" y="487163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Discounts tied to expiry dates, mixed perceptions of value.</a:t>
            </a:r>
            <a:endParaRPr lang="en-IN" b="1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73A88D4-445F-BE9D-5393-4E093221CE6F}"/>
              </a:ext>
            </a:extLst>
          </p:cNvPr>
          <p:cNvSpPr txBox="1">
            <a:spLocks/>
          </p:cNvSpPr>
          <p:nvPr/>
        </p:nvSpPr>
        <p:spPr>
          <a:xfrm>
            <a:off x="2578" y="171815"/>
            <a:ext cx="8990592" cy="65861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Customer Review &amp; Sentiment Analysis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81B2E7-61D1-1DF2-CA22-A3B2258A1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793691"/>
              </p:ext>
            </p:extLst>
          </p:nvPr>
        </p:nvGraphicFramePr>
        <p:xfrm>
          <a:off x="648092" y="1727080"/>
          <a:ext cx="7847815" cy="3886200"/>
        </p:xfrm>
        <a:graphic>
          <a:graphicData uri="http://schemas.openxmlformats.org/drawingml/2006/table">
            <a:tbl>
              <a:tblPr/>
              <a:tblGrid>
                <a:gridCol w="1687398">
                  <a:extLst>
                    <a:ext uri="{9D8B030D-6E8A-4147-A177-3AD203B41FA5}">
                      <a16:colId xmlns:a16="http://schemas.microsoft.com/office/drawing/2014/main" val="302442050"/>
                    </a:ext>
                  </a:extLst>
                </a:gridCol>
                <a:gridCol w="1461155">
                  <a:extLst>
                    <a:ext uri="{9D8B030D-6E8A-4147-A177-3AD203B41FA5}">
                      <a16:colId xmlns:a16="http://schemas.microsoft.com/office/drawing/2014/main" val="2077663952"/>
                    </a:ext>
                  </a:extLst>
                </a:gridCol>
                <a:gridCol w="1451728">
                  <a:extLst>
                    <a:ext uri="{9D8B030D-6E8A-4147-A177-3AD203B41FA5}">
                      <a16:colId xmlns:a16="http://schemas.microsoft.com/office/drawing/2014/main" val="634519915"/>
                    </a:ext>
                  </a:extLst>
                </a:gridCol>
                <a:gridCol w="1560136">
                  <a:extLst>
                    <a:ext uri="{9D8B030D-6E8A-4147-A177-3AD203B41FA5}">
                      <a16:colId xmlns:a16="http://schemas.microsoft.com/office/drawing/2014/main" val="3746557260"/>
                    </a:ext>
                  </a:extLst>
                </a:gridCol>
                <a:gridCol w="1687398">
                  <a:extLst>
                    <a:ext uri="{9D8B030D-6E8A-4147-A177-3AD203B41FA5}">
                      <a16:colId xmlns:a16="http://schemas.microsoft.com/office/drawing/2014/main" val="628781394"/>
                    </a:ext>
                  </a:extLst>
                </a:gridCol>
              </a:tblGrid>
              <a:tr h="503196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2500" b="1" i="0" u="none" strike="noStrike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lgerian" panose="04020705040A02060702" pitchFamily="82" charset="0"/>
                        </a:rPr>
                        <a:t>Feature</a:t>
                      </a:r>
                      <a:endParaRPr lang="en-IN" sz="2500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Algerian" panose="04020705040A02060702" pitchFamily="82" charset="0"/>
                      </a:endParaRPr>
                    </a:p>
                  </a:txBody>
                  <a:tcPr marR="1524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IN" sz="2000" b="1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R="1524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IN" sz="2000" dirty="0">
                        <a:effectLst/>
                      </a:endParaRPr>
                    </a:p>
                  </a:txBody>
                  <a:tcPr marR="1524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IN" sz="2000">
                        <a:effectLst/>
                      </a:endParaRPr>
                    </a:p>
                  </a:txBody>
                  <a:tcPr marR="152400"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IN" sz="2000" dirty="0">
                        <a:effectLst/>
                      </a:endParaRPr>
                    </a:p>
                  </a:txBody>
                  <a:tcPr marT="76200" marB="762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550156"/>
                  </a:ext>
                </a:extLst>
              </a:tr>
              <a:tr h="44166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1" i="1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Speed</a:t>
                      </a:r>
                      <a:endParaRPr lang="en-IN" sz="2000" b="1" i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 dirty="0">
                          <a:solidFill>
                            <a:srgbClr val="FF0066"/>
                          </a:solidFill>
                          <a:effectLst/>
                          <a:latin typeface="+mn-lt"/>
                        </a:rPr>
                        <a:t>⚡ 10-12m</a:t>
                      </a:r>
                      <a:endParaRPr lang="en-IN" sz="1700" b="1" dirty="0">
                        <a:solidFill>
                          <a:srgbClr val="FF0066"/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12-15m</a:t>
                      </a:r>
                      <a:endParaRPr lang="en-IN" sz="17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15-25m</a:t>
                      </a:r>
                      <a:endParaRPr lang="en-IN" sz="1700" b="1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15-30m</a:t>
                      </a:r>
                      <a:endParaRPr lang="en-IN" sz="1700" b="1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443380"/>
                  </a:ext>
                </a:extLst>
              </a:tr>
              <a:tr h="44166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1" i="1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Variety</a:t>
                      </a:r>
                      <a:endParaRPr lang="en-IN" sz="2000" b="1" i="1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 dirty="0">
                          <a:solidFill>
                            <a:srgbClr val="FF0066"/>
                          </a:solidFill>
                          <a:effectLst/>
                          <a:latin typeface="+mn-lt"/>
                        </a:rPr>
                        <a:t>Grocery-Heavy</a:t>
                      </a:r>
                      <a:endParaRPr lang="en-IN" sz="1700" b="1" dirty="0">
                        <a:solidFill>
                          <a:srgbClr val="FF0066"/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Electronics+</a:t>
                      </a:r>
                      <a:endParaRPr lang="en-IN" sz="17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General</a:t>
                      </a:r>
                      <a:endParaRPr lang="en-IN" sz="1700" b="1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Fresh/Bulk</a:t>
                      </a:r>
                      <a:endParaRPr lang="en-IN" sz="1700" b="1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679280"/>
                  </a:ext>
                </a:extLst>
              </a:tr>
              <a:tr h="44166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1" i="1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Pricing</a:t>
                      </a:r>
                      <a:endParaRPr lang="en-IN" sz="2000" b="1" i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 dirty="0">
                          <a:solidFill>
                            <a:srgbClr val="FF0066"/>
                          </a:solidFill>
                          <a:effectLst/>
                          <a:latin typeface="+mn-lt"/>
                        </a:rPr>
                        <a:t>Zepto Pass</a:t>
                      </a:r>
                      <a:endParaRPr lang="en-IN" sz="1700" b="1" dirty="0">
                        <a:solidFill>
                          <a:srgbClr val="FF0066"/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Dynamic</a:t>
                      </a:r>
                      <a:endParaRPr lang="en-IN" sz="17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Swiggy One</a:t>
                      </a:r>
                      <a:endParaRPr lang="en-IN" sz="1700" b="1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BB Star</a:t>
                      </a:r>
                      <a:endParaRPr lang="en-IN" sz="1700" b="1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437285"/>
                  </a:ext>
                </a:extLst>
              </a:tr>
              <a:tr h="44166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1" i="1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</a:rPr>
                        <a:t>UX</a:t>
                      </a:r>
                      <a:endParaRPr lang="en-IN" sz="2000" b="1" i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 dirty="0">
                          <a:solidFill>
                            <a:srgbClr val="FF0066"/>
                          </a:solidFill>
                          <a:effectLst/>
                          <a:latin typeface="+mn-lt"/>
                        </a:rPr>
                        <a:t>Minimalist</a:t>
                      </a:r>
                      <a:endParaRPr lang="en-IN" sz="1700" b="1" dirty="0">
                        <a:solidFill>
                          <a:srgbClr val="FF0066"/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Visual</a:t>
                      </a:r>
                      <a:endParaRPr lang="en-IN" sz="1700" b="1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Cluttered</a:t>
                      </a:r>
                      <a:endParaRPr lang="en-IN" sz="1700" b="1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i="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Functional</a:t>
                      </a:r>
                      <a:endParaRPr lang="en-IN" sz="1700" b="1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286812"/>
                  </a:ext>
                </a:extLst>
              </a:tr>
              <a:tr h="623533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2000" b="1" i="1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Customer Satisfaction</a:t>
                      </a: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dirty="0">
                          <a:solidFill>
                            <a:srgbClr val="FF0066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High in metros</a:t>
                      </a: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Fast but service issues</a:t>
                      </a: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dirty="0"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Generally positive</a:t>
                      </a:r>
                    </a:p>
                  </a:txBody>
                  <a:tcPr marR="152400"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IN" sz="1700" b="1" dirty="0">
                          <a:solidFill>
                            <a:srgbClr val="FF0000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Mixed, Service Gaps</a:t>
                      </a:r>
                    </a:p>
                  </a:txBody>
                  <a:tcPr marT="114300" marB="1143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4707557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7CCEF7B-B952-785D-8AC2-88A196CD5A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50" t="36353" r="13093" b="30740"/>
          <a:stretch>
            <a:fillRect/>
          </a:stretch>
        </p:blipFill>
        <p:spPr>
          <a:xfrm>
            <a:off x="2361357" y="1753391"/>
            <a:ext cx="1385741" cy="463825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00F08A-2418-8BA9-F26E-31192BA309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677" b="33407"/>
          <a:stretch>
            <a:fillRect/>
          </a:stretch>
        </p:blipFill>
        <p:spPr>
          <a:xfrm>
            <a:off x="3839714" y="1704345"/>
            <a:ext cx="1385740" cy="539279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9007CE0-EC66-6559-A234-9DBCE773C8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866" t="40927" r="16567" b="41132"/>
          <a:stretch>
            <a:fillRect/>
          </a:stretch>
        </p:blipFill>
        <p:spPr>
          <a:xfrm>
            <a:off x="5280177" y="1753391"/>
            <a:ext cx="1478846" cy="478895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D64CCD-CB7A-048D-2928-5A8D0D9BAB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448" y="1749716"/>
            <a:ext cx="1570666" cy="478895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2114D194-5588-B7A7-BB29-6F6065E2FEEA}"/>
              </a:ext>
            </a:extLst>
          </p:cNvPr>
          <p:cNvSpPr txBox="1">
            <a:spLocks/>
          </p:cNvSpPr>
          <p:nvPr/>
        </p:nvSpPr>
        <p:spPr>
          <a:xfrm>
            <a:off x="2578" y="171815"/>
            <a:ext cx="8990592" cy="65861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>
                <a:solidFill>
                  <a:schemeClr val="bg1"/>
                </a:solidFill>
              </a:rPr>
              <a:t>Competitor Benchmarking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C76B01-DFB5-2EA9-E798-6B856D5E0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38" y="1075538"/>
            <a:ext cx="8694132" cy="489044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5153540-1964-7B33-72A8-DE8D50DE9A8F}"/>
              </a:ext>
            </a:extLst>
          </p:cNvPr>
          <p:cNvSpPr txBox="1">
            <a:spLocks/>
          </p:cNvSpPr>
          <p:nvPr/>
        </p:nvSpPr>
        <p:spPr>
          <a:xfrm>
            <a:off x="2578" y="171815"/>
            <a:ext cx="8990592" cy="65861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>
                <a:solidFill>
                  <a:schemeClr val="bg1"/>
                </a:solidFill>
              </a:rPr>
              <a:t>SWOT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35AB99-02F5-7E34-D483-662D0EAAA3CD}"/>
              </a:ext>
            </a:extLst>
          </p:cNvPr>
          <p:cNvSpPr txBox="1"/>
          <p:nvPr/>
        </p:nvSpPr>
        <p:spPr>
          <a:xfrm>
            <a:off x="1036947" y="2274682"/>
            <a:ext cx="2620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</a:rPr>
              <a:t>Speed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</a:rPr>
              <a:t>Brand recall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</a:rPr>
              <a:t>Tech-driven ops</a:t>
            </a:r>
            <a:endParaRPr lang="en-IN" b="1" dirty="0">
              <a:ln>
                <a:solidFill>
                  <a:schemeClr val="tx1"/>
                </a:solidFill>
              </a:ln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13B59F-C94D-8546-8D3E-B569BE4CC14B}"/>
              </a:ext>
            </a:extLst>
          </p:cNvPr>
          <p:cNvSpPr txBox="1"/>
          <p:nvPr/>
        </p:nvSpPr>
        <p:spPr>
          <a:xfrm>
            <a:off x="5750352" y="2274682"/>
            <a:ext cx="2356701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</a:rPr>
              <a:t>High burn rate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</a:rPr>
              <a:t>Limited geography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</a:rPr>
              <a:t>Thin margin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</a:rPr>
              <a:t>Low AOV</a:t>
            </a:r>
            <a:endParaRPr lang="en-IN" b="1" dirty="0">
              <a:ln>
                <a:solidFill>
                  <a:schemeClr val="tx1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3056AC-570D-D5D9-5083-95494CA3C2BD}"/>
              </a:ext>
            </a:extLst>
          </p:cNvPr>
          <p:cNvSpPr txBox="1"/>
          <p:nvPr/>
        </p:nvSpPr>
        <p:spPr>
          <a:xfrm>
            <a:off x="5495826" y="3977130"/>
            <a:ext cx="3026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</a:rPr>
              <a:t>Tier-1 &amp; Tier-2 expansion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</a:rPr>
              <a:t>Private label development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n>
                  <a:solidFill>
                    <a:schemeClr val="tx1"/>
                  </a:solidFill>
                </a:ln>
                <a:solidFill>
                  <a:schemeClr val="accent1"/>
                </a:solidFill>
              </a:rPr>
              <a:t>Strategic Partnership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B80610-D39A-CEDB-FBC9-817E58ADAAFA}"/>
              </a:ext>
            </a:extLst>
          </p:cNvPr>
          <p:cNvSpPr txBox="1"/>
          <p:nvPr/>
        </p:nvSpPr>
        <p:spPr>
          <a:xfrm>
            <a:off x="1036946" y="3905076"/>
            <a:ext cx="2837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Intense competition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 Regulatory pressure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Rising delivery cost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Customer fatigue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F472BE4-5BBC-84F5-8D5D-C9919BCEEC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48" t="6764" r="56188" b="53707"/>
          <a:stretch>
            <a:fillRect/>
          </a:stretch>
        </p:blipFill>
        <p:spPr bwMode="auto">
          <a:xfrm>
            <a:off x="480765" y="2375774"/>
            <a:ext cx="2695033" cy="2899039"/>
          </a:xfrm>
          <a:prstGeom prst="rect">
            <a:avLst/>
          </a:prstGeom>
          <a:noFill/>
          <a:ln w="5715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75BB3621-C918-CCE9-6D5D-AD151EF693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" t="58788" r="62308" b="1391"/>
          <a:stretch>
            <a:fillRect/>
          </a:stretch>
        </p:blipFill>
        <p:spPr bwMode="auto">
          <a:xfrm>
            <a:off x="3483203" y="2375774"/>
            <a:ext cx="2366128" cy="2899039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9155A6-0522-4848-2E41-D00946E815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6594" y="1119678"/>
            <a:ext cx="1256096" cy="12560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999EA2-37AF-CDB3-40F2-6203F395F6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5983" y="1329790"/>
            <a:ext cx="984579" cy="9845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C3E1F3C-DC76-0441-D6B3-962E88E168D4}"/>
              </a:ext>
            </a:extLst>
          </p:cNvPr>
          <p:cNvSpPr txBox="1"/>
          <p:nvPr/>
        </p:nvSpPr>
        <p:spPr>
          <a:xfrm>
            <a:off x="5973035" y="2097532"/>
            <a:ext cx="3082565" cy="328808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rt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Quattrocento Sans" panose="020B0502050000020003" pitchFamily="34" charset="0"/>
              </a:rPr>
              <a:t>📊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Review Patterns &amp; Performance Data</a:t>
            </a:r>
            <a:endParaRPr lang="en-US" sz="1400" b="0" dirty="0">
              <a:effectLst/>
            </a:endParaRPr>
          </a:p>
          <a:p>
            <a:pPr rt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• </a:t>
            </a:r>
            <a:r>
              <a:rPr lang="en-US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Praise : </a:t>
            </a: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Speed , app and delivery</a:t>
            </a:r>
            <a:endParaRPr lang="en-US" sz="1400" b="0" dirty="0">
              <a:effectLst/>
            </a:endParaRPr>
          </a:p>
          <a:p>
            <a:pPr rt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• Complaints : Pricing, hidden fees and service gaps in non metros</a:t>
            </a:r>
            <a:endParaRPr lang="en-US" sz="1400" b="0" dirty="0">
              <a:effectLst/>
            </a:endParaRPr>
          </a:p>
          <a:p>
            <a:pPr rt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• Average rating: 2.5–3.5 stars across platforms</a:t>
            </a:r>
            <a:endParaRPr lang="en-US" sz="1400" b="0" dirty="0">
              <a:effectLst/>
            </a:endParaRPr>
          </a:p>
          <a:p>
            <a:pPr>
              <a:buNone/>
            </a:pPr>
            <a:r>
              <a:rPr lang="en-U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• 19% 1-star reviews cite service gaps &amp; fees</a:t>
            </a:r>
            <a:endParaRPr lang="en-IN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9DC955-6A65-8F32-4BE0-3975E91727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9668" y="1112952"/>
            <a:ext cx="984579" cy="98457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BB97E1F-C85E-CDA7-053D-2B402DA820B3}"/>
              </a:ext>
            </a:extLst>
          </p:cNvPr>
          <p:cNvSpPr txBox="1">
            <a:spLocks/>
          </p:cNvSpPr>
          <p:nvPr/>
        </p:nvSpPr>
        <p:spPr>
          <a:xfrm>
            <a:off x="73400" y="183450"/>
            <a:ext cx="8990592" cy="65861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>
                <a:solidFill>
                  <a:schemeClr val="bg1"/>
                </a:solidFill>
              </a:rPr>
              <a:t>Key Insights &amp; Findings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9C12D10-7598-52FB-2E3A-7F5799E92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795398"/>
              </p:ext>
            </p:extLst>
          </p:nvPr>
        </p:nvGraphicFramePr>
        <p:xfrm>
          <a:off x="235670" y="1404436"/>
          <a:ext cx="8672660" cy="3526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4837">
                  <a:extLst>
                    <a:ext uri="{9D8B030D-6E8A-4147-A177-3AD203B41FA5}">
                      <a16:colId xmlns:a16="http://schemas.microsoft.com/office/drawing/2014/main" val="4116872589"/>
                    </a:ext>
                  </a:extLst>
                </a:gridCol>
                <a:gridCol w="3082965">
                  <a:extLst>
                    <a:ext uri="{9D8B030D-6E8A-4147-A177-3AD203B41FA5}">
                      <a16:colId xmlns:a16="http://schemas.microsoft.com/office/drawing/2014/main" val="4050568684"/>
                    </a:ext>
                  </a:extLst>
                </a:gridCol>
                <a:gridCol w="3044858">
                  <a:extLst>
                    <a:ext uri="{9D8B030D-6E8A-4147-A177-3AD203B41FA5}">
                      <a16:colId xmlns:a16="http://schemas.microsoft.com/office/drawing/2014/main" val="937676130"/>
                    </a:ext>
                  </a:extLst>
                </a:gridCol>
              </a:tblGrid>
              <a:tr h="424364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Recommendations</a:t>
                      </a:r>
                    </a:p>
                  </a:txBody>
                  <a:tcPr marL="49086" marR="49086" marT="24542" marB="245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Short-Term (0–12 months)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9086" marR="49086" marT="24542" marB="245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Long-Term (1–3 years)</a:t>
                      </a:r>
                      <a:endParaRPr lang="en-IN" sz="20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9086" marR="49086" marT="24542" marB="245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314892"/>
                  </a:ext>
                </a:extLst>
              </a:tr>
              <a:tr h="1034203">
                <a:tc>
                  <a:txBody>
                    <a:bodyPr/>
                    <a:lstStyle/>
                    <a:p>
                      <a:r>
                        <a:rPr lang="en-IN" sz="1600" b="1" i="0" u="none" strike="noStrike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</a:rPr>
                        <a:t>Customer Satisfaction</a:t>
                      </a:r>
                      <a:endParaRPr lang="en-IN" sz="1600" b="1" dirty="0">
                        <a:solidFill>
                          <a:srgbClr val="7030A0"/>
                        </a:solidFill>
                      </a:endParaRPr>
                    </a:p>
                  </a:txBody>
                  <a:tcPr marL="49086" marR="49086" marT="24542" marB="245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Fix hidden charges</a:t>
                      </a:r>
                    </a:p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 support</a:t>
                      </a:r>
                    </a:p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launch loyalty rewards</a:t>
                      </a:r>
                      <a:endParaRPr lang="en-US" sz="16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9086" marR="49086" marT="24542" marB="245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private labels</a:t>
                      </a:r>
                    </a:p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 into Tier 2/3 cities</a:t>
                      </a:r>
                      <a:endParaRPr lang="en-IN" sz="1600" b="1" dirty="0">
                        <a:solidFill>
                          <a:srgbClr val="FFFF00"/>
                        </a:solidFill>
                      </a:endParaRPr>
                    </a:p>
                  </a:txBody>
                  <a:tcPr marL="49086" marR="49086" marT="24542" marB="245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416811"/>
                  </a:ext>
                </a:extLst>
              </a:tr>
              <a:tr h="1034203">
                <a:tc>
                  <a:txBody>
                    <a:bodyPr/>
                    <a:lstStyle/>
                    <a:p>
                      <a:r>
                        <a:rPr lang="en-IN" sz="1600" b="1" i="0" u="none" strike="noStrike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</a:rPr>
                        <a:t>Operational Efficiency</a:t>
                      </a:r>
                      <a:endParaRPr lang="en-IN" sz="1600" b="1" dirty="0">
                        <a:solidFill>
                          <a:srgbClr val="7030A0"/>
                        </a:solidFill>
                      </a:endParaRPr>
                    </a:p>
                  </a:txBody>
                  <a:tcPr marL="49086" marR="49086" marT="24542" marB="245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AI-driven inventory</a:t>
                      </a:r>
                    </a:p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micro-warehousing</a:t>
                      </a:r>
                    </a:p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better delivery partner training</a:t>
                      </a:r>
                      <a:endParaRPr lang="en-US" sz="16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9086" marR="49086" marT="24542" marB="245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Invest in automation</a:t>
                      </a:r>
                    </a:p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adopt EV fleets &amp; eco-packaging</a:t>
                      </a:r>
                      <a:endParaRPr lang="en-US" sz="1600" b="1" dirty="0">
                        <a:solidFill>
                          <a:srgbClr val="FFFF00"/>
                        </a:solidFill>
                        <a:effectLst/>
                      </a:endParaRPr>
                    </a:p>
                  </a:txBody>
                  <a:tcPr marL="49086" marR="49086" marT="24542" marB="245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925762"/>
                  </a:ext>
                </a:extLst>
              </a:tr>
              <a:tr h="1034203">
                <a:tc>
                  <a:txBody>
                    <a:bodyPr/>
                    <a:lstStyle/>
                    <a:p>
                      <a:r>
                        <a:rPr lang="en-IN" sz="1600" b="1" i="0" u="none" strike="noStrike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</a:rPr>
                        <a:t>Competitive Edge</a:t>
                      </a:r>
                      <a:endParaRPr lang="en-IN" sz="1600" b="1" dirty="0">
                        <a:solidFill>
                          <a:srgbClr val="7030A0"/>
                        </a:solidFill>
                      </a:endParaRPr>
                    </a:p>
                  </a:txBody>
                  <a:tcPr marL="49086" marR="49086" marT="24542" marB="245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FMCG tie-ups</a:t>
                      </a:r>
                    </a:p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 essentials/ready-to-eat</a:t>
                      </a:r>
                    </a:p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targeted Gen Z marketing</a:t>
                      </a:r>
                      <a:endParaRPr lang="en-US" sz="1600" b="1" dirty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</a:endParaRPr>
                    </a:p>
                  </a:txBody>
                  <a:tcPr marL="49086" marR="49086" marT="24542" marB="245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Diversify into lifestyle categories</a:t>
                      </a:r>
                    </a:p>
                    <a:p>
                      <a:pPr rtl="0"/>
                      <a:r>
                        <a:rPr lang="en-US" sz="1600" b="1" i="0" u="none" strike="noStrike" kern="1200" dirty="0">
                          <a:solidFill>
                            <a:srgbClr val="FFFF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launch subscription model enhance AI personalization</a:t>
                      </a:r>
                      <a:endParaRPr lang="en-IN" sz="1600" b="1" dirty="0">
                        <a:solidFill>
                          <a:srgbClr val="FFFF00"/>
                        </a:solidFill>
                      </a:endParaRPr>
                    </a:p>
                  </a:txBody>
                  <a:tcPr marL="49086" marR="49086" marT="24542" marB="24542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626474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465D138D-6854-AC1F-753E-B4A36B10F1A0}"/>
              </a:ext>
            </a:extLst>
          </p:cNvPr>
          <p:cNvSpPr txBox="1">
            <a:spLocks/>
          </p:cNvSpPr>
          <p:nvPr/>
        </p:nvSpPr>
        <p:spPr>
          <a:xfrm>
            <a:off x="76704" y="311957"/>
            <a:ext cx="8990592" cy="658616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>
                <a:solidFill>
                  <a:schemeClr val="bg1"/>
                </a:solidFill>
              </a:rPr>
              <a:t>Strategic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8016FA-CFA7-5B00-C0CB-C40DE1048343}"/>
              </a:ext>
            </a:extLst>
          </p:cNvPr>
          <p:cNvSpPr txBox="1"/>
          <p:nvPr/>
        </p:nvSpPr>
        <p:spPr>
          <a:xfrm>
            <a:off x="379095" y="5516975"/>
            <a:ext cx="83858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/>
              <a:t>Tagline: “Zepto: Fast today, sustainable tomorrow”</a:t>
            </a:r>
            <a:endParaRPr lang="en-IN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0FD0B1-8A80-42A5-4D15-350D429DD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66" y="2353029"/>
            <a:ext cx="8715049" cy="170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02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B26D69-2295-6027-A886-148CF5F00B54}"/>
              </a:ext>
            </a:extLst>
          </p:cNvPr>
          <p:cNvSpPr txBox="1"/>
          <p:nvPr/>
        </p:nvSpPr>
        <p:spPr>
          <a:xfrm>
            <a:off x="1531620" y="1797784"/>
            <a:ext cx="5867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02253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4667</TotalTime>
  <Words>554</Words>
  <Application>Microsoft Office PowerPoint</Application>
  <PresentationFormat>On-screen Show (4:3)</PresentationFormat>
  <Paragraphs>152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Algerian</vt:lpstr>
      <vt:lpstr>Arial</vt:lpstr>
      <vt:lpstr>Calibri</vt:lpstr>
      <vt:lpstr>Google Sans</vt:lpstr>
      <vt:lpstr>Inter</vt:lpstr>
      <vt:lpstr>Quattrocento Sans</vt:lpstr>
      <vt:lpstr>Times New Roman</vt:lpstr>
      <vt:lpstr>Wingdings</vt:lpstr>
      <vt:lpstr>Office Theme</vt:lpstr>
      <vt:lpstr>ZEPTO – Business Strategy Report (Qualitative &amp; Quantitative Analysis)</vt:lpstr>
      <vt:lpstr>Company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JeevithBalaji</dc:creator>
  <cp:keywords/>
  <dc:description>generated using python-pptx</dc:description>
  <cp:lastModifiedBy>Devi Balaji</cp:lastModifiedBy>
  <cp:revision>45</cp:revision>
  <dcterms:created xsi:type="dcterms:W3CDTF">2013-01-27T09:14:16Z</dcterms:created>
  <dcterms:modified xsi:type="dcterms:W3CDTF">2026-02-18T11:44:38Z</dcterms:modified>
  <cp:category/>
</cp:coreProperties>
</file>